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Source : informations générales de la fiche RefApp app-synthetic-001, exportées le 2026-10-13T12:00:00.000Z. Les métriques d'usage, la relation client et les coûts ne sont pas des champs de cette fiche ; aucune valeur n'est déduite.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fr-FR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DUCT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91440"/>
            <a:ext cx="86868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fr-FR" altLang="en-US" dirty="0"/>
            </a:lvl1pPr>
          </a:lstStyle>
          <a:p>
            <a:pPr indent="0" marL="0">
              <a:buNone/>
            </a:pPr>
            <a:endParaRPr lang="fr-F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DUCT_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fr-FR" altLang="en-US" dirty="0"/>
            </a:lvl1pPr>
          </a:lstStyle>
          <a:p>
            <a:pPr indent="0" marL="0">
              <a:buNone/>
            </a:pPr>
            <a:endParaRPr lang="fr-F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9144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FR" altLang="en-US" sz="2200" b="1" dirty="0">
                <a:solidFill>
                  <a:srgbClr val="000091"/>
                </a:solidFill>
              </a:rPr>
              <a:t>Portail synthétique RGAA</a:t>
            </a:r>
            <a:endParaRPr lang="fr-FR" sz="2200" dirty="0"/>
          </a:p>
        </p:txBody>
      </p:sp>
      <p:sp>
        <p:nvSpPr>
          <p:cNvPr id="3" name="Statut de l&amp;apos;application"/>
          <p:cNvSpPr/>
          <p:nvPr/>
        </p:nvSpPr>
        <p:spPr>
          <a:xfrm>
            <a:off x="9144000" y="256032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r-FR" altLang="en-US" sz="1600" b="1" dirty="0">
                <a:solidFill>
                  <a:srgbClr val="000091"/>
                </a:solidFill>
              </a:rPr>
              <a:t>En production</a:t>
            </a:r>
            <a:endParaRPr lang="fr-FR" sz="1600" dirty="0"/>
          </a:p>
        </p:txBody>
      </p:sp>
      <p:sp>
        <p:nvSpPr>
          <p:cNvPr id="4" name="Titre des informations générales"/>
          <p:cNvSpPr/>
          <p:nvPr/>
        </p:nvSpPr>
        <p:spPr>
          <a:xfrm>
            <a:off x="320040" y="950976"/>
            <a:ext cx="2788920" cy="393192"/>
          </a:xfrm>
          <a:prstGeom prst="rect">
            <a:avLst/>
          </a:prstGeom>
          <a:solidFill>
            <a:srgbClr val="E85483"/>
          </a:solidFill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fr-FR" altLang="en-US" sz="1800" b="1" dirty="0">
                <a:solidFill>
                  <a:srgbClr val="FFFFFF"/>
                </a:solidFill>
              </a:rPr>
              <a:t>Description flash</a:t>
            </a:r>
            <a:endParaRPr lang="fr-FR" sz="1800" dirty="0"/>
          </a:p>
        </p:txBody>
      </p:sp>
      <p:graphicFrame>
        <p:nvGraphicFramePr>
          <p:cNvPr id="5" name="Informations générales de l'applica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44168"/>
          <a:ext cx="2788920" cy="4983480"/>
        </p:xfrm>
        <a:graphic>
          <a:graphicData uri="http://schemas.openxmlformats.org/drawingml/2006/table">
            <a:tbl>
              <a:tblPr/>
              <a:tblGrid>
                <a:gridCol w="2788920"/>
              </a:tblGrid>
              <a:tr h="8305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fr-FR" altLang="en-US" sz="1100" b="1" dirty="0">
                          <a:solidFill>
                            <a:srgbClr val="FFFFFF"/>
                          </a:solidFill>
                        </a:rPr>
                        <a:t>Nom court</a:t>
                      </a:r>
                      <a:endParaRPr lang="fr-FR" sz="1100" dirty="0"/>
                    </a:p>
                    <a:p>
                      <a:pPr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FFFFFF"/>
                          </a:solidFill>
                        </a:rPr>
                        <a:t>PORTAIL-TEST</a:t>
                      </a:r>
                      <a:endParaRPr lang="fr-FR" sz="1100" dirty="0"/>
                    </a:p>
                  </a:txBody>
                  <a:tcPr marL="114300" marR="114300" marT="63500" marB="63500" anchor="t">
                    <a:lnL w="0" cap="flat" cmpd="sng" algn="ctr">
                      <a:solidFill>
                        <a:srgbClr val="000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91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fr-FR" altLang="en-US" sz="1100" b="1" dirty="0">
                          <a:solidFill>
                            <a:srgbClr val="FFFFFF"/>
                          </a:solidFill>
                        </a:rPr>
                        <a:t>Identifiant</a:t>
                      </a:r>
                      <a:endParaRPr lang="fr-FR" sz="1100" dirty="0"/>
                    </a:p>
                    <a:p>
                      <a:pPr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FFFFFF"/>
                          </a:solidFill>
                        </a:rPr>
                        <a:t>app-synthetic-001</a:t>
                      </a:r>
                      <a:endParaRPr lang="fr-FR" sz="1100" dirty="0"/>
                    </a:p>
                  </a:txBody>
                  <a:tcPr marL="114300" marR="114300" marT="63500" marB="63500" anchor="t">
                    <a:lnL w="0" cap="flat" cmpd="sng" algn="ctr">
                      <a:solidFill>
                        <a:srgbClr val="000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91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fr-FR" altLang="en-US" sz="1100" b="1" dirty="0">
                          <a:solidFill>
                            <a:srgbClr val="FFFFFF"/>
                          </a:solidFill>
                        </a:rPr>
                        <a:t>Directions métier</a:t>
                      </a:r>
                      <a:endParaRPr lang="fr-FR" sz="1100" dirty="0"/>
                    </a:p>
                    <a:p>
                      <a:pPr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FFFFFF"/>
                          </a:solidFill>
                        </a:rPr>
                        <a:t>Direction de démonstration</a:t>
                      </a:r>
                      <a:endParaRPr lang="fr-FR" sz="1100" dirty="0"/>
                    </a:p>
                  </a:txBody>
                  <a:tcPr marL="114300" marR="114300" marT="63500" marB="63500" anchor="t">
                    <a:lnL w="0" cap="flat" cmpd="sng" algn="ctr">
                      <a:solidFill>
                        <a:srgbClr val="000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91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fr-FR" alt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fr-FR" sz="1100" dirty="0"/>
                    </a:p>
                    <a:p>
                      <a:pPr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FFFFFF"/>
                          </a:solidFill>
                        </a:rPr>
                        <a:t>Application métier</a:t>
                      </a:r>
                      <a:endParaRPr lang="fr-FR" sz="1100" dirty="0"/>
                    </a:p>
                  </a:txBody>
                  <a:tcPr marL="114300" marR="114300" marT="63500" marB="63500" anchor="t">
                    <a:lnL w="0" cap="flat" cmpd="sng" algn="ctr">
                      <a:solidFill>
                        <a:srgbClr val="000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91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fr-FR" altLang="en-US" sz="1100" b="1" dirty="0">
                          <a:solidFill>
                            <a:srgbClr val="FFFFFF"/>
                          </a:solidFill>
                        </a:rPr>
                        <a:t>Noms alternatifs</a:t>
                      </a:r>
                      <a:endParaRPr lang="fr-FR" sz="1100" dirty="0"/>
                    </a:p>
                    <a:p>
                      <a:pPr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FFFFFF"/>
                          </a:solidFill>
                        </a:rPr>
                        <a:t>Nom alternatif fictif</a:t>
                      </a:r>
                      <a:endParaRPr lang="fr-FR" sz="1100" dirty="0"/>
                    </a:p>
                  </a:txBody>
                  <a:tcPr marL="114300" marR="114300" marT="63500" marB="63500" anchor="t">
                    <a:lnL w="0" cap="flat" cmpd="sng" algn="ctr">
                      <a:solidFill>
                        <a:srgbClr val="000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91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fr-FR" altLang="en-US" sz="1100" b="1" dirty="0">
                          <a:solidFill>
                            <a:srgbClr val="FFFFFF"/>
                          </a:solidFill>
                        </a:rPr>
                        <a:t>Tags</a:t>
                      </a:r>
                      <a:endParaRPr lang="fr-FR" sz="1100" dirty="0"/>
                    </a:p>
                    <a:p>
                      <a:pPr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FFFFFF"/>
                          </a:solidFill>
                        </a:rPr>
                        <a:t>Synthétique</a:t>
                      </a:r>
                      <a:endParaRPr lang="fr-FR" sz="1100" dirty="0"/>
                    </a:p>
                  </a:txBody>
                  <a:tcPr marL="114300" marR="114300" marT="63500" marB="63500" anchor="t">
                    <a:lnL w="0" cap="flat" cmpd="sng" algn="ctr">
                      <a:solidFill>
                        <a:srgbClr val="000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91"/>
                    </a:solidFill>
                  </a:tcPr>
                </a:tc>
              </a:tr>
            </a:tbl>
          </a:graphicData>
        </a:graphic>
      </p:graphicFrame>
      <p:sp>
        <p:nvSpPr>
          <p:cNvPr id="6" name="Proposition de valeur"/>
          <p:cNvSpPr/>
          <p:nvPr/>
        </p:nvSpPr>
        <p:spPr>
          <a:xfrm>
            <a:off x="3337560" y="950976"/>
            <a:ext cx="4937760" cy="384048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indent="0" marL="0">
              <a:buNone/>
            </a:pPr>
            <a:r>
              <a:rPr lang="fr-FR" altLang="en-US" sz="1800" b="1" dirty="0">
                <a:solidFill>
                  <a:srgbClr val="000091"/>
                </a:solidFill>
              </a:rPr>
              <a:t>Proposition de valeur</a:t>
            </a:r>
            <a:endParaRPr lang="fr-FR" sz="1800" dirty="0"/>
          </a:p>
        </p:txBody>
      </p:sp>
      <p:sp>
        <p:nvSpPr>
          <p:cNvPr id="7" name="Contenu : Proposition de valeur"/>
          <p:cNvSpPr/>
          <p:nvPr/>
        </p:nvSpPr>
        <p:spPr>
          <a:xfrm>
            <a:off x="3337560" y="1353312"/>
            <a:ext cx="4937760" cy="1655064"/>
          </a:xfrm>
          <a:prstGeom prst="rect">
            <a:avLst/>
          </a:prstGeom>
          <a:solidFill>
            <a:srgbClr val="F6F6F6"/>
          </a:solidFill>
          <a:ln w="12700">
            <a:solidFill>
              <a:srgbClr val="E85483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fr-FR" altLang="en-US" sz="1400" dirty="0">
                <a:solidFill>
                  <a:srgbClr val="161616"/>
                </a:solidFill>
              </a:rPr>
              <a:t>Application de démonstration ; aucune donnée</a:t>
            </a:r>
            <a:endParaRPr lang="fr-FR" sz="1400" dirty="0"/>
          </a:p>
          <a:p>
            <a:pPr indent="0" marL="0">
              <a:lnSpc>
                <a:spcPct val="100000"/>
              </a:lnSpc>
              <a:buNone/>
            </a:pPr>
            <a:r>
              <a:rPr lang="fr-FR" altLang="en-US" sz="1400" dirty="0">
                <a:solidFill>
                  <a:srgbClr val="161616"/>
                </a:solidFill>
              </a:rPr>
              <a:t>réelle.</a:t>
            </a:r>
            <a:endParaRPr lang="fr-FR" sz="1400" dirty="0"/>
          </a:p>
          <a:p>
            <a:pPr indent="0" marL="0">
              <a:lnSpc>
                <a:spcPct val="100000"/>
              </a:lnSpc>
              <a:buNone/>
            </a:pPr>
            <a:r>
              <a:rPr lang="fr-FR" altLang="en-US" sz="1400" dirty="0">
                <a:solidFill>
                  <a:srgbClr val="161616"/>
                </a:solidFill>
              </a:rPr>
              <a:t>Deuxième ligne avec &amp; et &lt;texte&gt;.</a:t>
            </a:r>
            <a:endParaRPr lang="fr-FR" sz="1400" dirty="0"/>
          </a:p>
        </p:txBody>
      </p:sp>
      <p:sp>
        <p:nvSpPr>
          <p:cNvPr id="8" name="Objectifs"/>
          <p:cNvSpPr/>
          <p:nvPr/>
        </p:nvSpPr>
        <p:spPr>
          <a:xfrm>
            <a:off x="3337560" y="3163824"/>
            <a:ext cx="4937760" cy="384048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indent="0" marL="0">
              <a:buNone/>
            </a:pPr>
            <a:r>
              <a:rPr lang="fr-FR" altLang="en-US" sz="1800" b="1" dirty="0">
                <a:solidFill>
                  <a:srgbClr val="000091"/>
                </a:solidFill>
              </a:rPr>
              <a:t>Objectifs</a:t>
            </a:r>
            <a:endParaRPr lang="fr-FR" sz="1800" dirty="0"/>
          </a:p>
        </p:txBody>
      </p:sp>
      <p:sp>
        <p:nvSpPr>
          <p:cNvPr id="9" name="Contenu : Objectifs"/>
          <p:cNvSpPr/>
          <p:nvPr/>
        </p:nvSpPr>
        <p:spPr>
          <a:xfrm>
            <a:off x="3337560" y="3566160"/>
            <a:ext cx="4937760" cy="1014984"/>
          </a:xfrm>
          <a:prstGeom prst="rect">
            <a:avLst/>
          </a:prstGeom>
          <a:solidFill>
            <a:srgbClr val="F6F6F6"/>
          </a:solidFill>
          <a:ln w="12700">
            <a:solidFill>
              <a:srgbClr val="E85483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fr-FR" altLang="en-US" sz="1400" dirty="0">
                <a:solidFill>
                  <a:srgbClr val="161616"/>
                </a:solidFill>
              </a:rPr>
              <a:t>Consulter un catalogue synthétique</a:t>
            </a:r>
            <a:endParaRPr lang="fr-FR" sz="1400" dirty="0"/>
          </a:p>
          <a:p>
            <a:pPr indent="0" marL="0">
              <a:lnSpc>
                <a:spcPct val="100000"/>
              </a:lnSpc>
              <a:buNone/>
            </a:pPr>
            <a:r>
              <a:rPr lang="fr-FR" altLang="en-US" sz="1400" dirty="0">
                <a:solidFill>
                  <a:srgbClr val="161616"/>
                </a:solidFill>
              </a:rPr>
              <a:t>Vérifier une alternative documentaire</a:t>
            </a:r>
            <a:endParaRPr lang="fr-FR" sz="1400" dirty="0"/>
          </a:p>
        </p:txBody>
      </p:sp>
      <p:sp>
        <p:nvSpPr>
          <p:cNvPr id="10" name="Cibles &amp;amp; utilisateurs"/>
          <p:cNvSpPr/>
          <p:nvPr/>
        </p:nvSpPr>
        <p:spPr>
          <a:xfrm>
            <a:off x="3337560" y="47365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indent="0" marL="0">
              <a:buNone/>
            </a:pPr>
            <a:r>
              <a:rPr lang="fr-FR" altLang="en-US" sz="1800" b="1" dirty="0">
                <a:solidFill>
                  <a:srgbClr val="000091"/>
                </a:solidFill>
              </a:rPr>
              <a:t>Cibles &amp; utilisateurs</a:t>
            </a:r>
            <a:endParaRPr lang="fr-FR" sz="1800" dirty="0"/>
          </a:p>
        </p:txBody>
      </p:sp>
      <p:sp>
        <p:nvSpPr>
          <p:cNvPr id="11" name="Contenu : Cibles &amp;amp; utilisateurs"/>
          <p:cNvSpPr/>
          <p:nvPr/>
        </p:nvSpPr>
        <p:spPr>
          <a:xfrm>
            <a:off x="3337560" y="5138928"/>
            <a:ext cx="4937760" cy="1188720"/>
          </a:xfrm>
          <a:prstGeom prst="rect">
            <a:avLst/>
          </a:prstGeom>
          <a:solidFill>
            <a:srgbClr val="F6F6F6"/>
          </a:solidFill>
          <a:ln w="12700">
            <a:solidFill>
              <a:srgbClr val="E85483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fr-FR" altLang="en-US" sz="1400" dirty="0">
                <a:solidFill>
                  <a:srgbClr val="161616"/>
                </a:solidFill>
              </a:rPr>
              <a:t>Agents fictifs</a:t>
            </a:r>
            <a:endParaRPr lang="fr-FR" sz="1400" dirty="0"/>
          </a:p>
          <a:p>
            <a:pPr indent="0" marL="0">
              <a:lnSpc>
                <a:spcPct val="100000"/>
              </a:lnSpc>
              <a:buNone/>
            </a:pPr>
            <a:r>
              <a:rPr lang="fr-FR" altLang="en-US" sz="1400" dirty="0">
                <a:solidFill>
                  <a:srgbClr val="161616"/>
                </a:solidFill>
              </a:rPr>
              <a:t>Auditeurs de démonstration</a:t>
            </a:r>
            <a:endParaRPr lang="fr-FR" sz="1400" dirty="0"/>
          </a:p>
        </p:txBody>
      </p:sp>
      <p:sp>
        <p:nvSpPr>
          <p:cNvPr id="12" name="Données flash"/>
          <p:cNvSpPr/>
          <p:nvPr/>
        </p:nvSpPr>
        <p:spPr>
          <a:xfrm>
            <a:off x="8503920" y="950976"/>
            <a:ext cx="3364992" cy="384048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indent="0" marL="0">
              <a:buNone/>
            </a:pPr>
            <a:r>
              <a:rPr lang="fr-FR" altLang="en-US" sz="1800" b="1" dirty="0">
                <a:solidFill>
                  <a:srgbClr val="000091"/>
                </a:solidFill>
              </a:rPr>
              <a:t>Données flash</a:t>
            </a:r>
            <a:endParaRPr lang="fr-FR" sz="1800" dirty="0"/>
          </a:p>
        </p:txBody>
      </p:sp>
      <p:sp>
        <p:nvSpPr>
          <p:cNvPr id="13" name="Contenu : Données flash"/>
          <p:cNvSpPr/>
          <p:nvPr/>
        </p:nvSpPr>
        <p:spPr>
          <a:xfrm>
            <a:off x="8503920" y="1353312"/>
            <a:ext cx="3364992" cy="1655064"/>
          </a:xfrm>
          <a:prstGeom prst="rect">
            <a:avLst/>
          </a:prstGeom>
          <a:solidFill>
            <a:srgbClr val="00749B"/>
          </a:solidFill>
          <a:ln w="12700">
            <a:solidFill>
              <a:srgbClr val="E85483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fr-FR" altLang="en-US" sz="1400" dirty="0">
                <a:solidFill>
                  <a:srgbClr val="FFFFFF"/>
                </a:solidFill>
              </a:rPr>
              <a:t>Indice de qualité de la fiche</a:t>
            </a:r>
            <a:endParaRPr lang="fr-FR" sz="1400" dirty="0"/>
          </a:p>
          <a:p>
            <a:pPr indent="0" marL="0">
              <a:lnSpc>
                <a:spcPct val="100000"/>
              </a:lnSpc>
              <a:buNone/>
            </a:pPr>
            <a:r>
              <a:rPr lang="fr-FR" altLang="en-US" sz="1400" dirty="0">
                <a:solidFill>
                  <a:srgbClr val="FFFFFF"/>
                </a:solidFill>
              </a:rPr>
              <a:t>0 %</a:t>
            </a:r>
            <a:endParaRPr lang="fr-FR" sz="1400" dirty="0"/>
          </a:p>
          <a:p>
            <a:pPr indent="0" marL="0">
              <a:lnSpc>
                <a:spcPct val="100000"/>
              </a:lnSpc>
              <a:buNone/>
            </a:pPr>
            <a:endParaRPr lang="fr-FR" sz="1400" dirty="0"/>
          </a:p>
          <a:p>
            <a:pPr indent="0" marL="0">
              <a:lnSpc>
                <a:spcPct val="100000"/>
              </a:lnSpc>
              <a:buNone/>
            </a:pPr>
            <a:r>
              <a:rPr lang="fr-FR" altLang="en-US" sz="1400" dirty="0">
                <a:solidFill>
                  <a:srgbClr val="FFFFFF"/>
                </a:solidFill>
              </a:rPr>
              <a:t>Nombre de clients et d'utilisateurs</a:t>
            </a:r>
            <a:endParaRPr lang="fr-FR" sz="1400" dirty="0"/>
          </a:p>
          <a:p>
            <a:pPr indent="0" marL="0">
              <a:lnSpc>
                <a:spcPct val="100000"/>
              </a:lnSpc>
              <a:buNone/>
            </a:pPr>
            <a:r>
              <a:rPr lang="fr-FR" altLang="en-US" sz="1400" dirty="0">
                <a:solidFill>
                  <a:srgbClr val="FFFFFF"/>
                </a:solidFill>
              </a:rPr>
              <a:t>Non renseigné</a:t>
            </a:r>
            <a:endParaRPr lang="fr-FR" sz="1400" dirty="0"/>
          </a:p>
        </p:txBody>
      </p:sp>
      <p:sp>
        <p:nvSpPr>
          <p:cNvPr id="14" name="Relation client"/>
          <p:cNvSpPr/>
          <p:nvPr/>
        </p:nvSpPr>
        <p:spPr>
          <a:xfrm>
            <a:off x="8503920" y="3163824"/>
            <a:ext cx="3364992" cy="384048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indent="0" marL="0">
              <a:buNone/>
            </a:pPr>
            <a:r>
              <a:rPr lang="fr-FR" altLang="en-US" sz="1800" b="1" dirty="0">
                <a:solidFill>
                  <a:srgbClr val="000091"/>
                </a:solidFill>
              </a:rPr>
              <a:t>Relation client</a:t>
            </a:r>
            <a:endParaRPr lang="fr-FR" sz="1800" dirty="0"/>
          </a:p>
        </p:txBody>
      </p:sp>
      <p:sp>
        <p:nvSpPr>
          <p:cNvPr id="15" name="Contenu : Relation client"/>
          <p:cNvSpPr/>
          <p:nvPr/>
        </p:nvSpPr>
        <p:spPr>
          <a:xfrm>
            <a:off x="8503920" y="3566160"/>
            <a:ext cx="3364992" cy="1014984"/>
          </a:xfrm>
          <a:prstGeom prst="rect">
            <a:avLst/>
          </a:prstGeom>
          <a:solidFill>
            <a:srgbClr val="F6F6F6"/>
          </a:solidFill>
          <a:ln w="12700">
            <a:solidFill>
              <a:srgbClr val="E85483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fr-FR" altLang="en-US" sz="1400" dirty="0">
                <a:solidFill>
                  <a:srgbClr val="161616"/>
                </a:solidFill>
              </a:rPr>
              <a:t>Non renseigné</a:t>
            </a:r>
            <a:endParaRPr lang="fr-FR" sz="1400" dirty="0"/>
          </a:p>
        </p:txBody>
      </p:sp>
      <p:sp>
        <p:nvSpPr>
          <p:cNvPr id="16" name="Coûts et revenus"/>
          <p:cNvSpPr/>
          <p:nvPr/>
        </p:nvSpPr>
        <p:spPr>
          <a:xfrm>
            <a:off x="8503920" y="4736592"/>
            <a:ext cx="3364992" cy="384048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indent="0" marL="0">
              <a:buNone/>
            </a:pPr>
            <a:r>
              <a:rPr lang="fr-FR" altLang="en-US" sz="1800" b="1" dirty="0">
                <a:solidFill>
                  <a:srgbClr val="000091"/>
                </a:solidFill>
              </a:rPr>
              <a:t>Coûts et revenus</a:t>
            </a:r>
            <a:endParaRPr lang="fr-FR" sz="1800" dirty="0"/>
          </a:p>
        </p:txBody>
      </p:sp>
      <p:sp>
        <p:nvSpPr>
          <p:cNvPr id="17" name="Contenu : Coûts et revenus"/>
          <p:cNvSpPr/>
          <p:nvPr/>
        </p:nvSpPr>
        <p:spPr>
          <a:xfrm>
            <a:off x="8503920" y="5138928"/>
            <a:ext cx="3364992" cy="1188720"/>
          </a:xfrm>
          <a:prstGeom prst="rect">
            <a:avLst/>
          </a:prstGeom>
          <a:solidFill>
            <a:srgbClr val="F6F6F6"/>
          </a:solidFill>
          <a:ln w="12700">
            <a:solidFill>
              <a:srgbClr val="E85483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fr-FR" altLang="en-US" sz="1400" dirty="0">
                <a:solidFill>
                  <a:srgbClr val="161616"/>
                </a:solidFill>
              </a:rPr>
              <a:t>Non renseignés dans RefApp</a:t>
            </a:r>
            <a:endParaRPr lang="fr-FR" sz="1400" dirty="0"/>
          </a:p>
        </p:txBody>
      </p:sp>
      <p:sp>
        <p:nvSpPr>
          <p:cNvPr id="18" name="Source et date de l&amp;apos;export"/>
          <p:cNvSpPr/>
          <p:nvPr/>
        </p:nvSpPr>
        <p:spPr>
          <a:xfrm>
            <a:off x="320040" y="651052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FR" altLang="en-US" sz="900" dirty="0">
                <a:solidFill>
                  <a:srgbClr val="666666"/>
                </a:solidFill>
              </a:rPr>
              <a:t>RefApp · app-synthetic-001 · Export du 13/10/2026</a:t>
            </a:r>
            <a:endParaRPr lang="fr-FR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Portail synthétique RGAA</dc:title>
  <dc:subject>Fiche produit app-synthetic-001</dc:subject>
  <dc:creator>Référentiel des applications</dc:creator>
  <cp:lastModifiedBy>Référentiel des applications</cp:lastModifiedBy>
  <cp:revision>1</cp:revision>
  <dcterms:created xsi:type="dcterms:W3CDTF">2026-10-13T12:00:00Z</dcterms:created>
  <dcterms:modified xsi:type="dcterms:W3CDTF">2026-10-13T12:00:00Z</dcterms:modified>
</cp:coreProperties>
</file>